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  <p:embeddedFont>
      <p:font typeface="Nunito Medium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48115E-4408-4874-87EE-531EFEE6B9E6}">
  <a:tblStyle styleId="{C448115E-4408-4874-87EE-531EFEE6B9E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E4BD873-D118-444A-A9B7-BA28764543B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slide" Target="slides/slide19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Medium-bold.fntdata"/><Relationship Id="rId30" Type="http://schemas.openxmlformats.org/officeDocument/2006/relationships/font" Target="fonts/NunitoMedium-regular.fntdata"/><Relationship Id="rId11" Type="http://schemas.openxmlformats.org/officeDocument/2006/relationships/slide" Target="slides/slide5.xml"/><Relationship Id="rId33" Type="http://schemas.openxmlformats.org/officeDocument/2006/relationships/font" Target="fonts/Nunit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NunitoMedium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32a2bf254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32a2bf25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0e4260e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0e4260e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2a2bf25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32a2bf25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4a3e9375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4a3e9375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0e4260ea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0e4260ea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0e4260ea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0e4260ea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0e4260ea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0e4260ea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4a3e93759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4a3e93759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0e4260ea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0e4260ea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4a3e93759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4a3e93759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0e4260ea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0e4260ea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0e4260ea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0e4260ea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4a3e93759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4a3e93759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0e4260ea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0e4260ea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3e7c9b5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3e7c9b5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0e4260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0e4260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0e4260ea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0e4260ea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3e7c9b53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3e7c9b53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to be added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7500" y="882900"/>
            <a:ext cx="2809225" cy="38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>
            <p:ph type="ctrTitle"/>
          </p:nvPr>
        </p:nvSpPr>
        <p:spPr>
          <a:xfrm>
            <a:off x="395175" y="1412800"/>
            <a:ext cx="5330400" cy="166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York City  Restaurant Inspections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Data-driven Analysis of Geography, Repeat Violations, and Cuisine Risk</a:t>
            </a:r>
            <a:endParaRPr sz="2800"/>
          </a:p>
        </p:txBody>
      </p:sp>
      <p:sp>
        <p:nvSpPr>
          <p:cNvPr id="130" name="Google Shape;130;p13"/>
          <p:cNvSpPr txBox="1"/>
          <p:nvPr>
            <p:ph idx="1" type="subTitle"/>
          </p:nvPr>
        </p:nvSpPr>
        <p:spPr>
          <a:xfrm>
            <a:off x="758050" y="3434100"/>
            <a:ext cx="43707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Presenters: Sarika Gaind &amp; Ali Shan Lakhani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31" name="Google Shape;13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648" y="25705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613400" y="614625"/>
            <a:ext cx="7505700" cy="5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Background &amp; Motivation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411475" y="1264925"/>
            <a:ext cx="6660900" cy="34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Analyzed over 289,000 NYC restaurant inspections from the Department of Health and Mental Hygiene (DOHMH) to study food safety patterns across the city.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Examined three key questions: how geography, repeat violations, and cuisine type influence inspection outcomes.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Results show geography explains very little variation in inspection scores performance depends mostly on restaurant hygiene practices.</a:t>
            </a:r>
            <a:b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0698" y="308300"/>
            <a:ext cx="1312550" cy="56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3700" y="2133525"/>
            <a:ext cx="2195501" cy="18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725625" y="818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Literature Review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725625" y="1810900"/>
            <a:ext cx="7770000" cy="28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i="1"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Jin &amp; Leslie (2009)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– Inspection stringency varies geographically; consistency issues.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i="1"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Kane et al. (2018)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– Repeat violations often tied to managerial inattention, not location.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i="1"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Filion &amp; Powell (2011)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– Cuisine-specific food-handling risks are under-researched.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i="1"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Harrington (2016)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– Predictive analytics can enhance food-safety enforcement.</a:t>
            </a:r>
            <a:b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Gap Identified: few studies combine spatial, behavioral, and cuisine dimensions in one predictive framework.</a:t>
            </a:r>
            <a:endParaRPr sz="14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898" y="33905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19150" y="76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Dataset Overview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2" name="Google Shape;152;p16"/>
          <p:cNvSpPr txBox="1"/>
          <p:nvPr>
            <p:ph idx="1" type="body"/>
          </p:nvPr>
        </p:nvSpPr>
        <p:spPr>
          <a:xfrm>
            <a:off x="819150" y="1551925"/>
            <a:ext cx="46809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Source: NYC DOHMH Restaurant Inspection Results (≈ 289 k records × 27 features).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Variables include geography (BORO, 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ZIP CODE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latitude/longitude), establishment ID, inspection metadata, violation details, and score/grade outcomes.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Multi-inspection records per restaurant → aggregation and deduplication essential.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8475" y="1666875"/>
            <a:ext cx="3400375" cy="260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650" y="1503950"/>
            <a:ext cx="7333551" cy="33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819150" y="76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highlight>
                  <a:schemeClr val="dk1"/>
                </a:highlight>
                <a:latin typeface="Nunito Medium"/>
                <a:ea typeface="Nunito Medium"/>
                <a:cs typeface="Nunito Medium"/>
                <a:sym typeface="Nunito Medium"/>
              </a:rPr>
              <a:t>Data Cleaning &amp; Preparation</a:t>
            </a:r>
            <a:endParaRPr sz="4900">
              <a:solidFill>
                <a:srgbClr val="188038"/>
              </a:solidFill>
              <a:highlight>
                <a:schemeClr val="dk1"/>
              </a:highlight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819150" y="1551925"/>
            <a:ext cx="77193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Converted date fields to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datetime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removed invalid coordinates (lat 40–41, lon −75 to −73).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Dropped missing core IDs (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CAMIS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VIOLATION CODE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Deduplicated exact inspection entries by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['CAMIS','INSPECTION DATE','VIOLATION CODE']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Created SCORE_CLEAN (clipped ≤ 80) to reduce outlier impact.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Generated coarse spatial bins (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lat_bin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lon_bin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 for ~1 km precision.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819150" y="76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Research Question 1 (RQ1): Geographic Determinants of Scores</a:t>
            </a:r>
            <a:endParaRPr>
              <a:solidFill>
                <a:srgbClr val="188038"/>
              </a:solidFill>
              <a:highlight>
                <a:schemeClr val="dk1"/>
              </a:highlight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558750" y="1790425"/>
            <a:ext cx="77661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Converted date fields to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datetime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removed invalid coordinates (lat 40–41, lon −75 to −73).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Dropped missing core IDs (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CAMIS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VIOLATION CODE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Deduplicated exact inspection entries by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['CAMIS','INSPECTION DATE','VIOLATION CODE']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Created SCORE_CLEAN (clipped ≤ 80) to reduce outlier impact.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Generated coarse spatial bins (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lat_bin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lon_bin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) for ~1 km precision.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4" name="Google Shape;17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819150" y="76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Research Question 1 (RQ1) Results and Interpretation</a:t>
            </a:r>
            <a:endParaRPr>
              <a:solidFill>
                <a:srgbClr val="188038"/>
              </a:solidFill>
              <a:highlight>
                <a:schemeClr val="dk1"/>
              </a:highlight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558750" y="1790425"/>
            <a:ext cx="4790400" cy="289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Geography explains ≈ 2–3 % of score variance → cleanliness is largely operational, not locational.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Confirms equity: similar scores across boroughs once individual management effects dominate.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Limitation: data lacks operational practice variables.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" name="Google Shape;182;p20"/>
          <p:cNvGraphicFramePr/>
          <p:nvPr/>
        </p:nvGraphicFramePr>
        <p:xfrm>
          <a:off x="5349150" y="151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{C448115E-4408-4874-87EE-531EFEE6B9E6}</a:tableStyleId>
              </a:tblPr>
              <a:tblGrid>
                <a:gridCol w="1347100"/>
                <a:gridCol w="688275"/>
                <a:gridCol w="650025"/>
                <a:gridCol w="770650"/>
              </a:tblGrid>
              <a:tr h="568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MAE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RMSE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R²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5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Gradient Boosting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8.93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11.61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0.026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5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Ridge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8.93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11.64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0.022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5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Linear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8.94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11.66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0.019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  <a:tr h="54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Random Forest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9.13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11.97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−0.034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545100" y="5419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Research Question 2 (RQ2): Repeat Violations - RQ2 Goal</a:t>
            </a:r>
            <a:endParaRPr>
              <a:solidFill>
                <a:srgbClr val="188038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803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545100" y="1710700"/>
            <a:ext cx="80538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Identify predictors of </a:t>
            </a:r>
            <a:r>
              <a:rPr i="1"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recurrent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health-code issues.</a:t>
            </a:r>
            <a:b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</a:b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Two complementary targets:</a:t>
            </a:r>
            <a:endParaRPr sz="1400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Run 1 – </a:t>
            </a:r>
            <a:r>
              <a:rPr lang="en" sz="1400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repeat_same_flag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: restaurant repeats </a:t>
            </a:r>
            <a:r>
              <a:rPr i="1"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the same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 violation code.</a:t>
            </a:r>
            <a:endParaRPr sz="1400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AutoNum type="arabicPeriod"/>
            </a:pP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Run 2 – </a:t>
            </a:r>
            <a:r>
              <a:rPr lang="en" sz="1400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repeat_flag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: restaurant shows ≥ 2 distinct violations (breadth).</a:t>
            </a:r>
            <a:b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</a:b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Independent vars: </a:t>
            </a:r>
            <a:r>
              <a:rPr lang="en" sz="1400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BORO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CUISINE DESCRIPTION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TYPE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CRITICAL FLAG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SCORE</a:t>
            </a: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.</a:t>
            </a:r>
            <a:b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</a:br>
            <a:r>
              <a:rPr lang="en" sz="1400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rPr>
              <a:t>Why these: jointly represent geography, cuisine context, enforcement phase, and risk level.</a:t>
            </a:r>
            <a:endParaRPr sz="1400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19150" y="76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Research Question 2 (RQ2): Techniques</a:t>
            </a:r>
            <a:endParaRPr sz="2900">
              <a:solidFill>
                <a:srgbClr val="18803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558750" y="1790425"/>
            <a:ext cx="80538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Cleaned data → dropped missing essentials, stratified 80/20 split.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Preprocessing: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OneHotEncoder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+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StandardScaler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Models: Logistic Regression , Decision Tree , Random Forest , G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radient Boosting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Evaluated Accuracy, Precision, Recall, F1, ROC-AUC.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Feature importance via Permutation Importance for best-accuracy model per run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" name="Google Shape;201;p23"/>
          <p:cNvGraphicFramePr/>
          <p:nvPr/>
        </p:nvGraphicFramePr>
        <p:xfrm>
          <a:off x="507000" y="4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{AE4BD873-D118-444A-A9B7-BA28764543BF}</a:tableStyleId>
              </a:tblPr>
              <a:tblGrid>
                <a:gridCol w="1890125"/>
                <a:gridCol w="1183450"/>
                <a:gridCol w="1275625"/>
                <a:gridCol w="1375500"/>
                <a:gridCol w="1390850"/>
                <a:gridCol w="109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Model(Run 1)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ROC-AUC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0.765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 Boosting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0.887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0.848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Decision</a:t>
                      </a:r>
                      <a:r>
                        <a:rPr lang="en"/>
                        <a:t> Tree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0.820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5425" y="2631075"/>
            <a:ext cx="5584424" cy="212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075" y="2771525"/>
            <a:ext cx="6203799" cy="1849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8" name="Google Shape;208;p24"/>
          <p:cNvGraphicFramePr/>
          <p:nvPr/>
        </p:nvGraphicFramePr>
        <p:xfrm>
          <a:off x="382800" y="350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{AE4BD873-D118-444A-A9B7-BA28764543BF}</a:tableStyleId>
              </a:tblPr>
              <a:tblGrid>
                <a:gridCol w="1923725"/>
                <a:gridCol w="1204500"/>
                <a:gridCol w="1298325"/>
                <a:gridCol w="1399950"/>
                <a:gridCol w="1415575"/>
                <a:gridCol w="1110675"/>
              </a:tblGrid>
              <a:tr h="59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Model(Run 2)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ROC-AUC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0.983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 Boosting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0.996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Decision Tree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558750" y="716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R</a:t>
            </a: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esearch Question 3 (RQ3): Cuisine &amp; Severe Violations</a:t>
            </a:r>
            <a:endParaRPr>
              <a:solidFill>
                <a:srgbClr val="18803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4" name="Google Shape;214;p25"/>
          <p:cNvSpPr txBox="1"/>
          <p:nvPr>
            <p:ph idx="1" type="body"/>
          </p:nvPr>
        </p:nvSpPr>
        <p:spPr>
          <a:xfrm>
            <a:off x="558750" y="1790425"/>
            <a:ext cx="80538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Question: </a:t>
            </a:r>
            <a:r>
              <a:rPr i="1"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Do cuisine types and geography predict severe (critical) violations?</a:t>
            </a:r>
            <a:endParaRPr i="1"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Target: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severe_violation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(1 if CRITICAL FLAG contains “Critical”).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Features: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Categorical: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cuisine_clean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BORO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NTA_clean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cuisine_boro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geo_cluster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Numeric: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Latitude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Longitude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4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cuisine_popularity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Mutual-Information feature selection (top 50).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Balanced train via minority upsampling; models = LogReg, Tree, RF, GB.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5" name="Google Shape;2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26"/>
          <p:cNvGraphicFramePr/>
          <p:nvPr/>
        </p:nvGraphicFramePr>
        <p:xfrm>
          <a:off x="468600" y="34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{AE4BD873-D118-444A-A9B7-BA28764543BF}</a:tableStyleId>
              </a:tblPr>
              <a:tblGrid>
                <a:gridCol w="1890125"/>
                <a:gridCol w="1183450"/>
                <a:gridCol w="1275625"/>
                <a:gridCol w="1375500"/>
                <a:gridCol w="1390850"/>
                <a:gridCol w="10912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Accuracy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F1-Score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ROC-AUC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 Boosting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Decision Tree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0.977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0.836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0.595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21" name="Google Shape;2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625" y="2571750"/>
            <a:ext cx="5946677" cy="218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660900" y="6513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Findings – RQ3 (Cuisine-Type Risks &amp; Geography)</a:t>
            </a:r>
            <a:endParaRPr>
              <a:solidFill>
                <a:srgbClr val="18803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7" name="Google Shape;227;p27"/>
          <p:cNvSpPr txBox="1"/>
          <p:nvPr>
            <p:ph idx="1" type="body"/>
          </p:nvPr>
        </p:nvSpPr>
        <p:spPr>
          <a:xfrm>
            <a:off x="558750" y="1790425"/>
            <a:ext cx="80538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Severe (critical) violations are moderately predictable using cuisine + geographic context (best model: Random Forest, AUC ≈ 0.66).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Cuisine effects become meaningful only when combined with geography (e.g., cuisine × borough combinations show clear risk patterns).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Spatial risk is better captured using lat/long bins, neighborhood groups (NTA), and geo-clusters, since raw latitude/longitude alone behave as a paired coordinate, not separate predictors.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Cuisine categories are broad (fast-food to gourmet), which dampens individual cuisine influence, but cuisine popularity and regional patterns still carry risk signal.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Results suggest contextual risk, not absolute risk—useful for inspection prioritization, but not strong enough for public restaurant choices.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8" name="Google Shape;2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/>
          <p:nvPr>
            <p:ph type="title"/>
          </p:nvPr>
        </p:nvSpPr>
        <p:spPr>
          <a:xfrm>
            <a:off x="660900" y="6513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Global Interpretation</a:t>
            </a:r>
            <a:endParaRPr>
              <a:solidFill>
                <a:srgbClr val="18803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4" name="Google Shape;234;p28"/>
          <p:cNvSpPr txBox="1"/>
          <p:nvPr>
            <p:ph idx="1" type="body"/>
          </p:nvPr>
        </p:nvSpPr>
        <p:spPr>
          <a:xfrm>
            <a:off x="558750" y="1790425"/>
            <a:ext cx="80538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RQ1: Geography alone ≈ no predictive power → cleanliness ≈ management quality.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RQ2: Behavioral repetition detectable → enforcement &amp; risk score most informative.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RQ3: Cuisine &amp; geography jointly signal moderate contextual risk.</a:t>
            </a:r>
            <a:b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Practical meaning: predictions are </a:t>
            </a:r>
            <a:r>
              <a:rPr i="1"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directionally</a:t>
            </a: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useful for health-dept prioritization, but not reliable enough for the public to choose a restaurant solely by model output.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5" name="Google Shape;2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558750" y="76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>
                <a:solidFill>
                  <a:srgbClr val="188038"/>
                </a:solidFill>
                <a:latin typeface="Nunito Medium"/>
                <a:ea typeface="Nunito Medium"/>
                <a:cs typeface="Nunito Medium"/>
                <a:sym typeface="Nunito Medium"/>
              </a:rPr>
              <a:t>Opportunities for Improvement</a:t>
            </a:r>
            <a:endParaRPr>
              <a:solidFill>
                <a:srgbClr val="188038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1" name="Google Shape;241;p29"/>
          <p:cNvSpPr txBox="1"/>
          <p:nvPr>
            <p:ph idx="1" type="body"/>
          </p:nvPr>
        </p:nvSpPr>
        <p:spPr>
          <a:xfrm>
            <a:off x="558750" y="1790425"/>
            <a:ext cx="80538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If additional variables were available: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Operational metrics: staff training, ownership type, cleaning frequency.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Temporal features: seasonality, time since last inspection.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Text analytics: embedding violation descriptions to capture nuance.</a:t>
            </a:r>
            <a:b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These could raise R² and ROC-AUC substantially and make forecasts actionable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624900" y="7664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>
                <a:solidFill>
                  <a:srgbClr val="188038"/>
                </a:solidFill>
              </a:rPr>
              <a:t>Conclusion &amp; Implications</a:t>
            </a:r>
            <a:endParaRPr>
              <a:solidFill>
                <a:srgbClr val="188038"/>
              </a:solidFill>
            </a:endParaRPr>
          </a:p>
        </p:txBody>
      </p:sp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558750" y="1790425"/>
            <a:ext cx="8053800" cy="32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Geography minimally impacts scores; behavior &amp; enforcement cycle matter most.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Predictive models can assist risk-based inspection scheduling.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Balanced modeling of repeat violations offers actionable early warnings.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Future research: integrate temporal, textual, and operational dimensions for richer insights.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9" name="Google Shape;24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idx="1" type="body"/>
          </p:nvPr>
        </p:nvSpPr>
        <p:spPr>
          <a:xfrm>
            <a:off x="545100" y="2031000"/>
            <a:ext cx="8053800" cy="10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7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Thank you!- Any Questions?</a:t>
            </a:r>
            <a:endParaRPr b="1" sz="28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5" name="Google Shape;2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2648" y="325100"/>
            <a:ext cx="1312550" cy="56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